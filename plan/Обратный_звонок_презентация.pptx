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1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1961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2011680"/>
            <a:ext cx="6400800" cy="6400800"/>
          </a:xfrm>
          <a:prstGeom prst="ellipse">
            <a:avLst/>
          </a:prstGeom>
          <a:solidFill>
            <a:srgbClr val="2A2550"/>
          </a:solidFill>
          <a:ln>
            <a:solidFill>
              <a:srgbClr val="00B0F0"/>
            </a:solidFill>
          </a:ln>
        </p:spPr>
      </p:sp>
      <p:sp>
        <p:nvSpPr>
          <p:cNvPr id="3" name="Shape 1"/>
          <p:cNvSpPr/>
          <p:nvPr/>
        </p:nvSpPr>
        <p:spPr>
          <a:xfrm>
            <a:off x="10058400" y="4206240"/>
            <a:ext cx="4114800" cy="4114800"/>
          </a:xfrm>
          <a:prstGeom prst="ellipse">
            <a:avLst/>
          </a:prstGeom>
          <a:solidFill>
            <a:srgbClr val="5B5BD6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34874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400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ВИДЖЕТ ДЛЯ САЙТА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4800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Обратный</a:t>
            </a:r>
            <a:endParaRPr lang="en-US" sz="7400" dirty="0"/>
          </a:p>
          <a:p>
            <a:pPr marL="0" indent="0">
              <a:lnSpc>
                <a:spcPct val="95000"/>
              </a:lnSpc>
              <a:buNone/>
            </a:pPr>
            <a:r>
              <a:rPr lang="en-US" sz="7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</a:t>
            </a:r>
            <a:endParaRPr lang="en-US" sz="7400" dirty="0"/>
          </a:p>
        </p:txBody>
      </p:sp>
      <p:sp>
        <p:nvSpPr>
          <p:cNvPr id="7" name="Text 5"/>
          <p:cNvSpPr/>
          <p:nvPr/>
        </p:nvSpPr>
        <p:spPr>
          <a:xfrm>
            <a:off x="731520" y="3840480"/>
            <a:ext cx="7223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21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Посетитель оставляет номер — и телефон у него звонит через 20 секунд. Без операторов на линии, без ожидания.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5440680"/>
            <a:ext cx="7223760" cy="914400"/>
          </a:xfrm>
          <a:prstGeom prst="roundRect">
            <a:avLst>
              <a:gd name="adj" fmla="val 12000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5440680"/>
            <a:ext cx="66751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до 30%  </a:t>
            </a: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звонков теряются — клиенту лень звонить самому</a:t>
            </a:r>
            <a:endParaRPr lang="en-US" sz="2500" dirty="0"/>
          </a:p>
        </p:txBody>
      </p:sp>
      <p:sp>
        <p:nvSpPr>
          <p:cNvPr id="10" name="Shape 8"/>
          <p:cNvSpPr/>
          <p:nvPr/>
        </p:nvSpPr>
        <p:spPr>
          <a:xfrm>
            <a:off x="8229600" y="1417320"/>
            <a:ext cx="3200400" cy="4297680"/>
          </a:xfrm>
          <a:prstGeom prst="roundRect">
            <a:avLst>
              <a:gd name="adj" fmla="val 5143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549640" y="17830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98000"/>
              </a:lnSpc>
              <a:buNone/>
            </a:pPr>
            <a:r>
              <a:rPr lang="en-US" sz="17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Оставьте номер — мы перезвоним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49640" y="25603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Перезвоним в течение нескольких секунд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549640" y="310896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4" name="Text 12"/>
          <p:cNvSpPr/>
          <p:nvPr/>
        </p:nvSpPr>
        <p:spPr>
          <a:xfrm>
            <a:off x="8732520" y="310896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8A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Ваше имя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49640" y="3703320"/>
            <a:ext cx="2560320" cy="457200"/>
          </a:xfrm>
          <a:prstGeom prst="roundRect">
            <a:avLst>
              <a:gd name="adj" fmla="val 16000"/>
            </a:avLst>
          </a:prstGeom>
          <a:solidFill>
            <a:srgbClr val="F0F0F5"/>
          </a:solidFill>
          <a:ln/>
        </p:spPr>
      </p:sp>
      <p:sp>
        <p:nvSpPr>
          <p:cNvPr id="16" name="Text 14"/>
          <p:cNvSpPr/>
          <p:nvPr/>
        </p:nvSpPr>
        <p:spPr>
          <a:xfrm>
            <a:off x="8732520" y="37033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(___) ___-__-__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549640" y="4389120"/>
            <a:ext cx="2560320" cy="548640"/>
          </a:xfrm>
          <a:prstGeom prst="roundRect">
            <a:avLst>
              <a:gd name="adj" fmla="val 16667"/>
            </a:avLst>
          </a:prstGeom>
          <a:solidFill>
            <a:srgbClr val="F2B705"/>
          </a:solidFill>
          <a:ln/>
        </p:spPr>
      </p:sp>
      <p:sp>
        <p:nvSpPr>
          <p:cNvPr id="18" name="Text 16"/>
          <p:cNvSpPr/>
          <p:nvPr/>
        </p:nvSpPr>
        <p:spPr>
          <a:xfrm>
            <a:off x="8549640" y="43891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Жду звонка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549640" y="50292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Нажимая, вы соглашаетесь с политикой</a:t>
            </a:r>
            <a:endParaRPr lang="en-US" sz="950" dirty="0"/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E08B779-028E-DE4A-953D-5E23A731C4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1520" y="576580"/>
            <a:ext cx="16002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Как это работает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шага. Клиент не делает ничего сложного — просто оставляет телефон.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62128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Shape 4"/>
          <p:cNvSpPr/>
          <p:nvPr/>
        </p:nvSpPr>
        <p:spPr>
          <a:xfrm>
            <a:off x="1143000" y="2377440"/>
            <a:ext cx="1005840" cy="1005840"/>
          </a:xfrm>
          <a:prstGeom prst="ellipse">
            <a:avLst/>
          </a:prstGeom>
          <a:solidFill>
            <a:srgbClr val="5B5BD6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8176" y="264261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Клиент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оставляет</a:t>
            </a: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н</a:t>
            </a:r>
            <a:r>
              <a:rPr lang="ru-RU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омер</a:t>
            </a:r>
            <a:r>
              <a:rPr lang="ru-RU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</a:t>
            </a:r>
            <a:r>
              <a:rPr lang="en-US" sz="2000" b="1" dirty="0" err="1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телефон</a:t>
            </a:r>
            <a:r>
              <a:rPr lang="ru-RU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114300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Вводит имя и номер в окне виджета и жмёт «Жду звонка». Это занимает 5 секунд.</a:t>
            </a:r>
            <a:endParaRPr lang="en-US" sz="14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6888" y="3767328"/>
            <a:ext cx="329184" cy="32918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5008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8"/>
          <p:cNvSpPr/>
          <p:nvPr/>
        </p:nvSpPr>
        <p:spPr>
          <a:xfrm>
            <a:off x="633984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6000" dirty="0"/>
          </a:p>
        </p:txBody>
      </p:sp>
      <p:sp>
        <p:nvSpPr>
          <p:cNvPr id="13" name="Shape 9"/>
          <p:cNvSpPr/>
          <p:nvPr/>
        </p:nvSpPr>
        <p:spPr>
          <a:xfrm>
            <a:off x="4861560" y="2377440"/>
            <a:ext cx="1005840" cy="100584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26736" y="2642616"/>
            <a:ext cx="475488" cy="4754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6156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Сервис сам перезванивает</a:t>
            </a:r>
            <a:endParaRPr lang="en-US" sz="2000" dirty="0"/>
          </a:p>
        </p:txBody>
      </p:sp>
      <p:sp>
        <p:nvSpPr>
          <p:cNvPr id="16" name="Text 11"/>
          <p:cNvSpPr/>
          <p:nvPr/>
        </p:nvSpPr>
        <p:spPr>
          <a:xfrm>
            <a:off x="486156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Через 20 секунд система звонит — сначала вашему менеджеру, потом клиенту, и соединяет их.</a:t>
            </a:r>
            <a:endParaRPr lang="en-US" sz="14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5448" y="3767328"/>
            <a:ext cx="329184" cy="329184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8168640" y="2103120"/>
            <a:ext cx="3261360" cy="3657600"/>
          </a:xfrm>
          <a:prstGeom prst="roundRect">
            <a:avLst>
              <a:gd name="adj" fmla="val 3925"/>
            </a:avLst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10058400" y="2148840"/>
            <a:ext cx="1280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6000" b="1" dirty="0">
                <a:solidFill>
                  <a:srgbClr val="EEEEF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6000" dirty="0"/>
          </a:p>
        </p:txBody>
      </p:sp>
      <p:sp>
        <p:nvSpPr>
          <p:cNvPr id="20" name="Shape 14"/>
          <p:cNvSpPr/>
          <p:nvPr/>
        </p:nvSpPr>
        <p:spPr>
          <a:xfrm>
            <a:off x="8580120" y="2377440"/>
            <a:ext cx="1005840" cy="1005840"/>
          </a:xfrm>
          <a:prstGeom prst="ellipse">
            <a:avLst/>
          </a:prstGeom>
          <a:solidFill>
            <a:srgbClr val="F2B705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45296" y="2642616"/>
            <a:ext cx="475488" cy="4754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580120" y="3517361"/>
            <a:ext cx="243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2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Менеджер уже на линии</a:t>
            </a:r>
            <a:endParaRPr lang="en-US" sz="2000" dirty="0"/>
          </a:p>
        </p:txBody>
      </p:sp>
      <p:sp>
        <p:nvSpPr>
          <p:cNvPr id="23" name="Text 16"/>
          <p:cNvSpPr/>
          <p:nvPr/>
        </p:nvSpPr>
        <p:spPr>
          <a:xfrm>
            <a:off x="8580120" y="4443061"/>
            <a:ext cx="243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берёт трубку — там живой менеджер. Заявка сохранена в кабинете lemnity.</a:t>
            </a:r>
            <a:endParaRPr lang="en-US" sz="1450" dirty="0"/>
          </a:p>
        </p:txBody>
      </p:sp>
      <p:sp>
        <p:nvSpPr>
          <p:cNvPr id="24" name="Shape 17"/>
          <p:cNvSpPr/>
          <p:nvPr/>
        </p:nvSpPr>
        <p:spPr>
          <a:xfrm>
            <a:off x="731520" y="6080760"/>
            <a:ext cx="10698480" cy="502920"/>
          </a:xfrm>
          <a:prstGeom prst="roundRect">
            <a:avLst>
              <a:gd name="adj" fmla="val 18182"/>
            </a:avLst>
          </a:prstGeom>
          <a:solidFill>
            <a:srgbClr val="5B5BD6"/>
          </a:solidFill>
          <a:ln/>
        </p:spPr>
      </p:sp>
      <p:sp>
        <p:nvSpPr>
          <p:cNvPr id="25" name="Text 18"/>
          <p:cNvSpPr/>
          <p:nvPr/>
        </p:nvSpPr>
        <p:spPr>
          <a:xfrm>
            <a:off x="914400" y="60807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 до звонка вы настраиваете сами  </a:t>
            </a: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хоть мгновенно, хоть через минуту.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502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Что умеет виджет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49808" y="12344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уже встроено и настраивается мышкой в личном кабинете.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73152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5" name="Shape 3"/>
          <p:cNvSpPr/>
          <p:nvPr/>
        </p:nvSpPr>
        <p:spPr>
          <a:xfrm>
            <a:off x="111556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2213261"/>
            <a:ext cx="420624" cy="4206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1556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Автодозвон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1556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звонит сама и соединяет клиента с менеджером. Оператор не нужен.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43484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0" name="Shape 7"/>
          <p:cNvSpPr/>
          <p:nvPr/>
        </p:nvSpPr>
        <p:spPr>
          <a:xfrm>
            <a:off x="481888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213261"/>
            <a:ext cx="420624" cy="4206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1888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SMS-уведомления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81888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Менеджеру приходит SMS: не взял трубку, заявка в нерабочее время, после разговора.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38160" y="1801576"/>
            <a:ext cx="3291840" cy="2422952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15" name="Shape 11"/>
          <p:cNvSpPr/>
          <p:nvPr/>
        </p:nvSpPr>
        <p:spPr>
          <a:xfrm>
            <a:off x="8522208" y="2002949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2520" y="2213261"/>
            <a:ext cx="420624" cy="4206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22208" y="296522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Telegram-бот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522208" y="3285372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Заявки падают в Telegram менеджеру или в группу — мгновенно, бесплатно.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73152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0" name="Shape 15"/>
          <p:cNvSpPr/>
          <p:nvPr/>
        </p:nvSpPr>
        <p:spPr>
          <a:xfrm>
            <a:off x="111556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880" y="4815706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График работы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111556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Часы, дни недели, праздники. В нерабочее время — не беспокоим клиента.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443484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25" name="Shape 19"/>
          <p:cNvSpPr/>
          <p:nvPr/>
        </p:nvSpPr>
        <p:spPr>
          <a:xfrm>
            <a:off x="481888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0" y="4815706"/>
            <a:ext cx="420624" cy="420624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1888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Звонок по времени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481888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 может выбрать удобное время — «перезвоните в 18:00».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38160" y="4434840"/>
            <a:ext cx="3291840" cy="2281584"/>
          </a:xfrm>
          <a:prstGeom prst="roundRect">
            <a:avLst>
              <a:gd name="adj" fmla="val 5217"/>
            </a:avLst>
          </a:prstGeom>
          <a:solidFill>
            <a:srgbClr val="F6F5FB"/>
          </a:solidFill>
          <a:ln/>
        </p:spPr>
      </p:sp>
      <p:sp>
        <p:nvSpPr>
          <p:cNvPr id="30" name="Shape 23"/>
          <p:cNvSpPr/>
          <p:nvPr/>
        </p:nvSpPr>
        <p:spPr>
          <a:xfrm>
            <a:off x="8522208" y="4605394"/>
            <a:ext cx="841248" cy="841248"/>
          </a:xfrm>
          <a:prstGeom prst="ellipse">
            <a:avLst/>
          </a:prstGeom>
          <a:solidFill>
            <a:srgbClr val="E7E6F7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32520" y="4815706"/>
            <a:ext cx="420624" cy="42062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522208" y="5536848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Любой дизайн</a:t>
            </a:r>
            <a:endParaRPr lang="en-US" sz="1800" dirty="0"/>
          </a:p>
        </p:txBody>
      </p:sp>
      <p:sp>
        <p:nvSpPr>
          <p:cNvPr id="33" name="Text 25"/>
          <p:cNvSpPr/>
          <p:nvPr/>
        </p:nvSpPr>
        <p:spPr>
          <a:xfrm>
            <a:off x="8522208" y="5846718"/>
            <a:ext cx="25786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6E6E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Цвет, форма, текст и позиция кнопки — под ваш сайт. Без программиста.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474720"/>
            <a:ext cx="6400800" cy="6400800"/>
          </a:xfrm>
          <a:prstGeom prst="ellipse">
            <a:avLst/>
          </a:prstGeom>
          <a:solidFill>
            <a:srgbClr val="2A2550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029200" cy="5029200"/>
          </a:xfrm>
          <a:prstGeom prst="ellipse">
            <a:avLst/>
          </a:prstGeom>
          <a:solidFill>
            <a:srgbClr val="5B5BD6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9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Поставьте кнопку — и не теряйте клиентов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73152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 сек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00584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клиенту уже звонят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2628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80060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операторов на линии ожидания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321040" y="2423160"/>
            <a:ext cx="3383280" cy="1691640"/>
          </a:xfrm>
          <a:prstGeom prst="roundRect">
            <a:avLst>
              <a:gd name="adj" fmla="val 6486"/>
            </a:avLst>
          </a:prstGeom>
          <a:solidFill>
            <a:srgbClr val="2A2550"/>
          </a:solidFill>
          <a:ln w="12700">
            <a:solidFill>
              <a:srgbClr val="5B5BD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651760"/>
            <a:ext cx="2834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2B70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595360" y="3502152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кода для установки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1520" y="45262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681728"/>
            <a:ext cx="374904" cy="37490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600200" y="4480560"/>
            <a:ext cx="8686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Вставьте один скрипт на сайт — виджет заработает на любой странице. Подходит для Tilda, WordPress, Wix и самописных сайтов.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731520" y="5715000"/>
            <a:ext cx="4526280" cy="777240"/>
          </a:xfrm>
          <a:prstGeom prst="roundRect">
            <a:avLst>
              <a:gd name="adj" fmla="val 16471"/>
            </a:avLst>
          </a:prstGeom>
          <a:solidFill>
            <a:srgbClr val="F2B705"/>
          </a:solidFill>
          <a:ln/>
          <a:effectLst>
            <a:outerShdw blurRad="1143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731520" y="57150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161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Подключить на lemnity.ru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5486400" y="5715000"/>
            <a:ext cx="5486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9D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за 10 минут · без программиста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324</Words>
  <Application>Microsoft Macintosh PowerPoint</Application>
  <PresentationFormat>Широкоэкранный</PresentationFormat>
  <Paragraphs>51</Paragraphs>
  <Slides>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Trebuchet MS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Виджет «Обратный звонок»</dc:title>
  <dc:subject>PptxGenJS Presentation</dc:subject>
  <dc:creator>lemnity.ru</dc:creator>
  <cp:lastModifiedBy>Microsoft Office User</cp:lastModifiedBy>
  <cp:revision>2</cp:revision>
  <dcterms:created xsi:type="dcterms:W3CDTF">2026-06-11T07:50:02Z</dcterms:created>
  <dcterms:modified xsi:type="dcterms:W3CDTF">2026-06-11T08:33:25Z</dcterms:modified>
</cp:coreProperties>
</file>
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96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2A2550"/>
          </a:solidFill>
          <a:ln>
            <a:solidFill>
              <a:srgbClr val="00B0F0"/>
            </a:solidFill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4114800" cy="4114800"/>
          </a:xfrm>
          <a:prstGeom prst="ellipse">
            <a:avLst/>
          </a:prstGeom>
          <a:solidFill>
            <a:srgbClr val="5B5BD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487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ВИДЖЕТ ДЛЯ САЙТА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Обратный</a:t>
            </a:r>
            <a:endParaRPr lang="en-US" sz="7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звонок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Посетитель оставляет номер — и телефон у него звонит через 20 секунд. Без операторов на линии, без ожидания.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5440680"/>
            <a:ext cx="7223760" cy="914400"/>
          </a:xfrm>
          <a:prstGeom prst="roundRect">
            <a:avLst>
              <a:gd name="adj" fmla="val 12000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406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 30%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звонков теряются — клиенту лень звонить самому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200400" cy="42976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1783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Оставьте номер — мы перезвоним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Перезвоним в течение нескольких секунд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49640" y="31089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0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имя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3703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0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(___) ___-__-__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9640" y="43891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2B705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Жду звонка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Нажимая, вы соглашаетесь с политикой</a:t>
            </a:r>
            <a:endParaRPr lang="en-US" sz="9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E08B779-028E-DE4A-953D-5E23A731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6580"/>
            <a:ext cx="16002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это работает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шага. Клиент не делает ничего сложного — просто оставляет телефон.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62128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143000" y="2377440"/>
            <a:ext cx="1005840" cy="1005840"/>
          </a:xfrm>
          <a:prstGeom prst="ellipse">
            <a:avLst/>
          </a:prstGeom>
          <a:solidFill>
            <a:srgbClr val="5B5BD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264261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517361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Клиент </a:t>
            </a:r>
            <a:r>
              <a:rPr lang="en-US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оставляет</a:t>
            </a: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</a:t>
            </a:r>
            <a:r>
              <a:rPr lang="ru-RU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омер</a:t>
            </a:r>
            <a:r>
              <a:rPr lang="ru-RU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телефон</a:t>
            </a:r>
            <a:r>
              <a:rPr lang="ru-RU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43000" y="4443061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 имя и номер в окне виджета и жмёт «Жду звонка». Это занимает 5 секунд.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888" y="376732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5008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3984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Shape 9"/>
          <p:cNvSpPr/>
          <p:nvPr/>
        </p:nvSpPr>
        <p:spPr>
          <a:xfrm>
            <a:off x="4861560" y="2377440"/>
            <a:ext cx="1005840" cy="10058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736" y="264261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61560" y="3517361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 сам перезванивает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861560" y="4443061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20 секунд система звонит — сначала вашему менеджеру, потом клиенту, и соединяет их.</a:t>
            </a:r>
            <a:endParaRPr lang="en-US" sz="14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448" y="376732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6864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1005840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6000" dirty="0"/>
          </a:p>
        </p:txBody>
      </p:sp>
      <p:sp>
        <p:nvSpPr>
          <p:cNvPr id="20" name="Shape 14"/>
          <p:cNvSpPr/>
          <p:nvPr/>
        </p:nvSpPr>
        <p:spPr>
          <a:xfrm>
            <a:off x="8580120" y="2377440"/>
            <a:ext cx="1005840" cy="10058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5296" y="264261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80120" y="3517361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Менеджер уже на линии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8580120" y="4443061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берёт трубку — там живой менеджер. Заявка сохранена в кабинете lemnity.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731520" y="6080760"/>
            <a:ext cx="10698480" cy="502920"/>
          </a:xfrm>
          <a:prstGeom prst="roundRect">
            <a:avLst>
              <a:gd name="adj" fmla="val 18182"/>
            </a:avLst>
          </a:prstGeom>
          <a:solidFill>
            <a:srgbClr val="5B5BD6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60807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звонка вы настраиваете сами  </a:t>
            </a: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хоть мгновенно, хоть через минуту.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умеет виджет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уже встроено и настраивается мышкой в личном кабинете.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01576"/>
            <a:ext cx="3291840" cy="2422952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2002949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213261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29652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Автодозвон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5568" y="32853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звонит сама и соединяет клиента с менеджером. Оператор не нужен.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801576"/>
            <a:ext cx="3291840" cy="2422952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10" name="Shape 7"/>
          <p:cNvSpPr/>
          <p:nvPr/>
        </p:nvSpPr>
        <p:spPr>
          <a:xfrm>
            <a:off x="4818888" y="2002949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13261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29652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SMS-уведомления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18888" y="32853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Менеджеру приходит SMS: не взял трубку, заявка в нерабочее время, после разговора.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801576"/>
            <a:ext cx="3291840" cy="2422952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522208" y="2002949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213261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29652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Telegram-бот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22208" y="32853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падают в Telegram менеджеру или в группу — мгновенно, бесплатно.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4434840"/>
            <a:ext cx="3291840" cy="2281584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115568" y="4605394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815706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55368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График работы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115568" y="584671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Часы, дни недели, праздники. В нерабочее время — не беспокоим клиента.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4434840"/>
            <a:ext cx="3291840" cy="2281584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818888" y="4605394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815706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18888" y="55368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Звонок по времени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818888" y="584671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может выбрать удобное время — «перезвоните в 18:00».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4434840"/>
            <a:ext cx="3291840" cy="2281584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522208" y="4605394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4815706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22208" y="55368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Любой дизайн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522208" y="584671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Цвет, форма, текст и позиция кнопки — под ваш сайт. Без программиста.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Соберите свой тариф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1887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подписка + только те модули, которые нужны именно вам. Сумма пересчитывается сама.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160520" cy="4526280"/>
          </a:xfrm>
          <a:prstGeom prst="roundRect">
            <a:avLst>
              <a:gd name="adj" fmla="val 3516"/>
            </a:avLst>
          </a:prstGeom>
          <a:solidFill>
            <a:srgbClr val="1E1B3A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286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БАЗОВЫЙ ТАРИФ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62432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Callback Widget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43000" y="320040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990 ₽</a:t>
            </a:r>
            <a:r>
              <a:rPr lang="en-US" sz="1800" dirty="0">
                <a:solidFill>
                  <a:srgbClr val="B9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мес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143000" y="4114800"/>
            <a:ext cx="3337560" cy="0"/>
          </a:xfrm>
          <a:prstGeom prst="line">
            <a:avLst/>
          </a:prstGeom>
          <a:noFill/>
          <a:ln w="12700">
            <a:solidFill>
              <a:srgbClr val="5B5BD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7083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30682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сайт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75488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6908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MANGO Office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3892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50749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Callback-виджет на сайте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52297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54589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аналитика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90702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3040" y="584301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заявок в месяц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257800" y="1874520"/>
            <a:ext cx="6172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Дополнительные модули</a:t>
            </a:r>
            <a:endParaRPr lang="en-US" sz="1900" dirty="0"/>
          </a:p>
        </p:txBody>
      </p:sp>
      <p:sp>
        <p:nvSpPr>
          <p:cNvPr id="20" name="Shape 13"/>
          <p:cNvSpPr/>
          <p:nvPr/>
        </p:nvSpPr>
        <p:spPr>
          <a:xfrm>
            <a:off x="5257800" y="2423160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5422392" y="2532888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28" y="2592324"/>
            <a:ext cx="118872" cy="1188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806440" y="24231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Telegram-уведомления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946404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290 ₽/мес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5257800" y="2958084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6" name="Shape 18"/>
          <p:cNvSpPr/>
          <p:nvPr/>
        </p:nvSpPr>
        <p:spPr>
          <a:xfrm>
            <a:off x="5422392" y="3067812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28" y="3127248"/>
            <a:ext cx="118872" cy="1188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806440" y="29580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Webhook-интеграции</a:t>
            </a:r>
            <a:endParaRPr lang="en-US" sz="1400" dirty="0"/>
          </a:p>
        </p:txBody>
      </p:sp>
      <p:sp>
        <p:nvSpPr>
          <p:cNvPr id="29" name="Text 20"/>
          <p:cNvSpPr/>
          <p:nvPr/>
        </p:nvSpPr>
        <p:spPr>
          <a:xfrm>
            <a:off x="9464040" y="29580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490 ₽/мес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5257800" y="3493008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1" name="Shape 22"/>
          <p:cNvSpPr/>
          <p:nvPr/>
        </p:nvSpPr>
        <p:spPr>
          <a:xfrm>
            <a:off x="5422392" y="3602736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28" y="3662172"/>
            <a:ext cx="118872" cy="1188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806440" y="34930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A/B-тестирование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9464040" y="34930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690 ₽/мес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5257800" y="4027932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6" name="Shape 26"/>
          <p:cNvSpPr/>
          <p:nvPr/>
        </p:nvSpPr>
        <p:spPr>
          <a:xfrm>
            <a:off x="5422392" y="4137660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28" y="4197096"/>
            <a:ext cx="118872" cy="11887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806440" y="40279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 (свой бренд)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9464040" y="402793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1490 ₽/мес</a:t>
            </a:r>
            <a:endParaRPr lang="en-US" sz="1400" dirty="0"/>
          </a:p>
        </p:txBody>
      </p:sp>
      <p:sp>
        <p:nvSpPr>
          <p:cNvPr id="40" name="Shape 29"/>
          <p:cNvSpPr/>
          <p:nvPr/>
        </p:nvSpPr>
        <p:spPr>
          <a:xfrm>
            <a:off x="5257800" y="4562856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1" name="Shape 30"/>
          <p:cNvSpPr/>
          <p:nvPr/>
        </p:nvSpPr>
        <p:spPr>
          <a:xfrm>
            <a:off x="5422392" y="4672584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28" y="4732020"/>
            <a:ext cx="118872" cy="1188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806440" y="45628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API-доступ</a:t>
            </a:r>
            <a:endParaRPr lang="en-US" sz="1400" dirty="0"/>
          </a:p>
        </p:txBody>
      </p:sp>
      <p:sp>
        <p:nvSpPr>
          <p:cNvPr id="44" name="Text 32"/>
          <p:cNvSpPr/>
          <p:nvPr/>
        </p:nvSpPr>
        <p:spPr>
          <a:xfrm>
            <a:off x="9464040" y="456285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1490 ₽/мес</a:t>
            </a:r>
            <a:endParaRPr lang="en-US" sz="1400" dirty="0"/>
          </a:p>
        </p:txBody>
      </p:sp>
      <p:sp>
        <p:nvSpPr>
          <p:cNvPr id="45" name="Shape 33"/>
          <p:cNvSpPr/>
          <p:nvPr/>
        </p:nvSpPr>
        <p:spPr>
          <a:xfrm>
            <a:off x="5257800" y="5097780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46" name="Shape 34"/>
          <p:cNvSpPr/>
          <p:nvPr/>
        </p:nvSpPr>
        <p:spPr>
          <a:xfrm>
            <a:off x="5422392" y="5207508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28" y="5266944"/>
            <a:ext cx="118872" cy="118872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806440" y="50977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сайт</a:t>
            </a:r>
            <a:endParaRPr lang="en-US" sz="1400" dirty="0"/>
          </a:p>
        </p:txBody>
      </p:sp>
      <p:sp>
        <p:nvSpPr>
          <p:cNvPr id="49" name="Text 36"/>
          <p:cNvSpPr/>
          <p:nvPr/>
        </p:nvSpPr>
        <p:spPr>
          <a:xfrm>
            <a:off x="9464040" y="509778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190 ₽ за сайт</a:t>
            </a:r>
            <a:endParaRPr lang="en-US" sz="1400" dirty="0"/>
          </a:p>
        </p:txBody>
      </p:sp>
      <p:sp>
        <p:nvSpPr>
          <p:cNvPr id="50" name="Shape 37"/>
          <p:cNvSpPr/>
          <p:nvPr/>
        </p:nvSpPr>
        <p:spPr>
          <a:xfrm>
            <a:off x="5257800" y="5632704"/>
            <a:ext cx="6172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51" name="Shape 38"/>
          <p:cNvSpPr/>
          <p:nvPr/>
        </p:nvSpPr>
        <p:spPr>
          <a:xfrm>
            <a:off x="5422392" y="5742432"/>
            <a:ext cx="237744" cy="237744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828" y="5801868"/>
            <a:ext cx="118872" cy="11887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5806440" y="563270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 +1000 заявок</a:t>
            </a:r>
            <a:endParaRPr lang="en-US" sz="1400" dirty="0"/>
          </a:p>
        </p:txBody>
      </p:sp>
      <p:sp>
        <p:nvSpPr>
          <p:cNvPr id="54" name="Text 40"/>
          <p:cNvSpPr/>
          <p:nvPr/>
        </p:nvSpPr>
        <p:spPr>
          <a:xfrm>
            <a:off x="9464040" y="563270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5B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490 ₽ за пакет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731520" y="64282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Подключайте и отключайте модули в любой момент — платите только за нужное.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6400800" cy="6400800"/>
          </a:xfrm>
          <a:prstGeom prst="ellipse">
            <a:avLst/>
          </a:prstGeom>
          <a:solidFill>
            <a:srgbClr val="2A255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5B5BD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Поставьте кнопку — и не теряйте клиентов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сек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клиенту уже звонят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80060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операторов на линии ожидания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59536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кода для установки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81728"/>
            <a:ext cx="374904" cy="3749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448056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один скрипт на сайт — виджет заработает на любой странице. Подходит для Tilda, WordPress, Wix и самописных сайтов.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" y="5715000"/>
            <a:ext cx="4526280" cy="777240"/>
          </a:xfrm>
          <a:prstGeom prst="roundRect">
            <a:avLst>
              <a:gd name="adj" fmla="val 16471"/>
            </a:avLst>
          </a:prstGeom>
          <a:solidFill>
            <a:srgbClr val="F2B705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57150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Подключить на lemnity.ru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0" y="57150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за 10 минут · без программиста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429</Words>
  <Application>Microsoft Macintosh PowerPoint</Application>
  <PresentationFormat>Широкоэкранный</PresentationFormat>
  <Paragraphs>78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Виджет «Обратный звонок»</dc:title>
  <dc:subject>PptxGenJS Presentation</dc:subject>
  <dc:creator>lemnity.ru</dc:creator>
  <cp:lastModifiedBy>Microsoft Office User</cp:lastModifiedBy>
  <cp:revision>3</cp:revision>
  <dcterms:created xsi:type="dcterms:W3CDTF">2026-06-11T07:50:02Z</dcterms:created>
  <dcterms:modified xsi:type="dcterms:W3CDTF">2026-06-11T12:28:11Z</dcterms:modified>
</cp:coreProperties>
</file>
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113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58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5951E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9244FB">
              <a:alpha val="20000"/>
            </a:srgbClr>
          </a:solidFill>
          <a:ln/>
        </p:spPr>
      </p:sp>
      <p:pic>
        <p:nvPicPr>
          <p:cNvPr id="4" name="Image 0" descr="/Users/thesimakov/Documents/GitHub/lemnity/presentation/assets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1731981" cy="384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21488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148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ВИДЖЕТ «ЧАТ»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Живой чат для</a:t>
            </a:r>
            <a:endParaRPr lang="en-US" sz="5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вашего сайта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94360" y="45262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>
                    <a:alpha val="82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Посетитель пишет вам прямо на странице — как в мессенджере. А вы отвечаете и превращаете гостей в клиентов.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1164824" y="504200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943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60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lemnity.ru</a:t>
            </a:r>
            <a:endParaRPr lang="en-US" sz="1100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A123DF8-F561-C54A-8952-5DEA4C802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059" y="429768"/>
            <a:ext cx="3508933" cy="5925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824228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4584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ЭТО ТАКОЕ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Как живой продавец —</a:t>
            </a:r>
            <a:endParaRPr lang="en-US"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только прямо на сайте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Гость зашёл на сайт, и у него вопрос. Вместо того чтобы уйти — он нажимает кнопку и сразу пишет вам.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36393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63" y="3792383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0392" y="4297680"/>
            <a:ext cx="2911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Видит кнопку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0392" y="4754880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Аккуратный значок в углу страницы. Заметный, но не мешает.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14674" y="3657600"/>
            <a:ext cx="384048" cy="384048"/>
          </a:xfrm>
          <a:prstGeom prst="ellipse">
            <a:avLst/>
          </a:prstGeom>
          <a:solidFill>
            <a:srgbClr val="F4F2FC"/>
          </a:solidFill>
          <a:ln/>
        </p:spPr>
      </p:sp>
      <p:sp>
        <p:nvSpPr>
          <p:cNvPr id="13" name="Text 10"/>
          <p:cNvSpPr/>
          <p:nvPr/>
        </p:nvSpPr>
        <p:spPr>
          <a:xfrm>
            <a:off x="3414674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83938" y="33832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39970" y="36393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041" y="3792383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39970" y="4297680"/>
            <a:ext cx="2911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Пишет вопрос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39970" y="4754880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Привычно, как в WhatsApp или Telegram. Учиться не нужно.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204253" y="3657600"/>
            <a:ext cx="384048" cy="384048"/>
          </a:xfrm>
          <a:prstGeom prst="ellipse">
            <a:avLst/>
          </a:prstGeom>
          <a:solidFill>
            <a:srgbClr val="F4F2FC"/>
          </a:solidFill>
          <a:ln/>
        </p:spPr>
      </p:sp>
      <p:sp>
        <p:nvSpPr>
          <p:cNvPr id="20" name="Text 16"/>
          <p:cNvSpPr/>
          <p:nvPr/>
        </p:nvSpPr>
        <p:spPr>
          <a:xfrm>
            <a:off x="7204253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173517" y="33832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29549" y="363931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619" y="3792383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9549" y="4297680"/>
            <a:ext cx="2911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Получает ответ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29549" y="4754880"/>
            <a:ext cx="2911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 отвечаете сразу — гость доволен и остаётся с вами.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10993831" y="3657600"/>
            <a:ext cx="384048" cy="384048"/>
          </a:xfrm>
          <a:prstGeom prst="ellipse">
            <a:avLst/>
          </a:prstGeom>
          <a:solidFill>
            <a:srgbClr val="F4F2FC"/>
          </a:solidFill>
          <a:ln/>
        </p:spPr>
      </p:sp>
      <p:sp>
        <p:nvSpPr>
          <p:cNvPr id="27" name="Text 22"/>
          <p:cNvSpPr/>
          <p:nvPr/>
        </p:nvSpPr>
        <p:spPr>
          <a:xfrm>
            <a:off x="10993831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500" dirty="0"/>
          </a:p>
        </p:txBody>
      </p:sp>
      <p:pic>
        <p:nvPicPr>
          <p:cNvPr id="28" name="Image 3" descr="/Users/thesimakov/Documents/GitHub/lemnity/presentation/assets/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 ·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2034540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ЗАЧЕМ ЭТО НУЖНО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Больше клиентов.</a:t>
            </a:r>
            <a:endParaRPr lang="en-US"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Больше продаж.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Люди не любят звонить и писать письма. А чат — это легко. Поэтому вопросов задают больше, а значит, и покупок больше.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886200"/>
            <a:ext cx="4846320" cy="2103120"/>
          </a:xfrm>
          <a:prstGeom prst="roundRect">
            <a:avLst>
              <a:gd name="adj" fmla="val 6087"/>
            </a:avLst>
          </a:prstGeom>
          <a:solidFill>
            <a:srgbClr val="5951E5"/>
          </a:solidFill>
          <a:ln/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0416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×3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больше обращений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 сравнению с формой обратной связи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5951E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258568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73952" y="2112264"/>
            <a:ext cx="51233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Клиент не уходит с вопросом. </a:t>
            </a:r>
            <a:r>
              <a:rPr lang="en-US" sz="13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Получил ответ — остался у вас.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43600" y="3127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5951E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323697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73952" y="3090672"/>
            <a:ext cx="51233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Удобно, как мессенджер. </a:t>
            </a:r>
            <a:r>
              <a:rPr lang="en-US" sz="13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Знакомо каждому, осваивать не нужно.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943600" y="4105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5951E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421538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4069080"/>
            <a:ext cx="51233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 собираете контакты. </a:t>
            </a:r>
            <a:r>
              <a:rPr lang="en-US" sz="13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Имя, телефон, почту — для будущих продаж.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943600" y="50840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5951E5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5193792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5047488"/>
            <a:ext cx="51233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Работает и ночью. </a:t>
            </a:r>
            <a:r>
              <a:rPr lang="en-US" sz="13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Вас нет — чат примет сообщение, вы перезвоните.</a:t>
            </a:r>
            <a:endParaRPr lang="en-US" sz="1350" dirty="0"/>
          </a:p>
        </p:txBody>
      </p:sp>
      <p:pic>
        <p:nvPicPr>
          <p:cNvPr id="22" name="Image 4" descr="/Users/thesimakov/Documents/GitHub/lemnity/presentation/assets/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 ·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ВИДИТ ВАШ КЛИЕНТ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Просто и приятно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549640" y="914400"/>
            <a:ext cx="3017520" cy="4345229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2700">
            <a:solidFill>
              <a:srgbClr val="EDEDF0"/>
            </a:solidFill>
            <a:prstDash val="solid"/>
          </a:ln>
          <a:effectLst>
            <a:outerShdw blurRad="279400" dist="101600" dir="5400000" algn="bl" rotWithShape="0">
              <a:srgbClr val="2A1F8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86216" y="1819656"/>
            <a:ext cx="2944368" cy="2873045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8" name="Shape 6"/>
          <p:cNvSpPr/>
          <p:nvPr/>
        </p:nvSpPr>
        <p:spPr>
          <a:xfrm>
            <a:off x="8700516" y="1065276"/>
            <a:ext cx="2715768" cy="784555"/>
          </a:xfrm>
          <a:prstGeom prst="roundRect">
            <a:avLst>
              <a:gd name="adj" fmla="val 11655"/>
            </a:avLst>
          </a:prstGeom>
          <a:solidFill>
            <a:srgbClr val="5951E5"/>
          </a:solidFill>
          <a:ln/>
        </p:spPr>
      </p:sp>
      <p:sp>
        <p:nvSpPr>
          <p:cNvPr id="9" name="Shape 7"/>
          <p:cNvSpPr/>
          <p:nvPr/>
        </p:nvSpPr>
        <p:spPr>
          <a:xfrm>
            <a:off x="8819388" y="126553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72" y="135697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13164" y="1156716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Магазин «Уют»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322308" y="1449324"/>
            <a:ext cx="82296" cy="82296"/>
          </a:xfrm>
          <a:prstGeom prst="ellipse">
            <a:avLst/>
          </a:prstGeom>
          <a:solidFill>
            <a:srgbClr val="3BD1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59468" y="13944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связи сейчас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746236" y="2014423"/>
            <a:ext cx="1870862" cy="402336"/>
          </a:xfrm>
          <a:prstGeom prst="roundRect">
            <a:avLst>
              <a:gd name="adj" fmla="val 20455"/>
            </a:avLst>
          </a:prstGeom>
          <a:solidFill>
            <a:srgbClr val="F4F2FC"/>
          </a:solidFill>
          <a:ln/>
        </p:spPr>
      </p:sp>
      <p:sp>
        <p:nvSpPr>
          <p:cNvPr id="15" name="Text 12"/>
          <p:cNvSpPr/>
          <p:nvPr/>
        </p:nvSpPr>
        <p:spPr>
          <a:xfrm>
            <a:off x="8855964" y="2014423"/>
            <a:ext cx="1651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Добрый день! 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560052" y="2526487"/>
            <a:ext cx="1810512" cy="603504"/>
          </a:xfrm>
          <a:prstGeom prst="roundRect">
            <a:avLst>
              <a:gd name="adj" fmla="val 13636"/>
            </a:avLst>
          </a:prstGeom>
          <a:solidFill>
            <a:srgbClr val="5951E5"/>
          </a:solidFill>
          <a:ln/>
        </p:spPr>
      </p:sp>
      <p:sp>
        <p:nvSpPr>
          <p:cNvPr id="17" name="Text 14"/>
          <p:cNvSpPr/>
          <p:nvPr/>
        </p:nvSpPr>
        <p:spPr>
          <a:xfrm>
            <a:off x="9669780" y="2526487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Хочу диван, как на фото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746236" y="3239719"/>
            <a:ext cx="1870862" cy="603504"/>
          </a:xfrm>
          <a:prstGeom prst="roundRect">
            <a:avLst>
              <a:gd name="adj" fmla="val 13636"/>
            </a:avLst>
          </a:prstGeom>
          <a:solidFill>
            <a:srgbClr val="F4F2FC"/>
          </a:solidFill>
          <a:ln/>
        </p:spPr>
      </p:sp>
      <p:sp>
        <p:nvSpPr>
          <p:cNvPr id="19" name="Text 16"/>
          <p:cNvSpPr/>
          <p:nvPr/>
        </p:nvSpPr>
        <p:spPr>
          <a:xfrm>
            <a:off x="8855964" y="3239719"/>
            <a:ext cx="16514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Отличный выбор! Есть в наличии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46236" y="3952951"/>
            <a:ext cx="1870862" cy="603504"/>
          </a:xfrm>
          <a:prstGeom prst="roundRect">
            <a:avLst>
              <a:gd name="adj" fmla="val 13636"/>
            </a:avLst>
          </a:prstGeom>
          <a:solidFill>
            <a:srgbClr val="F4F2FC"/>
          </a:solidFill>
          <a:ln/>
        </p:spPr>
      </p:sp>
      <p:sp>
        <p:nvSpPr>
          <p:cNvPr id="21" name="Text 18"/>
          <p:cNvSpPr/>
          <p:nvPr/>
        </p:nvSpPr>
        <p:spPr>
          <a:xfrm>
            <a:off x="8855964" y="3952951"/>
            <a:ext cx="16514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Запишу вас на доставку 🚚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700516" y="4802429"/>
            <a:ext cx="2258568" cy="329184"/>
          </a:xfrm>
          <a:prstGeom prst="roundRect">
            <a:avLst>
              <a:gd name="adj" fmla="val 50000"/>
            </a:avLst>
          </a:prstGeom>
          <a:solidFill>
            <a:srgbClr val="F1F1F4"/>
          </a:solidFill>
          <a:ln/>
        </p:spPr>
      </p:sp>
      <p:sp>
        <p:nvSpPr>
          <p:cNvPr id="23" name="Text 20"/>
          <p:cNvSpPr/>
          <p:nvPr/>
        </p:nvSpPr>
        <p:spPr>
          <a:xfrm>
            <a:off x="8828532" y="4802429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3B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Напишите сообщение…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1032236" y="4793285"/>
            <a:ext cx="347472" cy="347472"/>
          </a:xfrm>
          <a:prstGeom prst="ellipse">
            <a:avLst/>
          </a:prstGeom>
          <a:solidFill>
            <a:srgbClr val="5951E5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676" y="4893869"/>
            <a:ext cx="164592" cy="16459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94360" y="21488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4F2FC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3" y="2296973"/>
            <a:ext cx="252374" cy="25237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44168" y="2103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Пишет — и сразу видит ответ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44168" y="24597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Переписка в реальном времени, без перезагрузок.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9436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4F2FC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3" y="3284525"/>
            <a:ext cx="252374" cy="25237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44168" y="3090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Прикрепляет фото и файлы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344168" y="3447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Покажет, что именно ищет, одним вложением.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94360" y="412394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4F2FC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3" y="4272077"/>
            <a:ext cx="252374" cy="25237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44168" y="40782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Видит, что вы на связи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344168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Зелёный кружок — значит, ответят прямо сейчас.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594360" y="511149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4F2FC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3" y="5259629"/>
            <a:ext cx="252374" cy="25237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344168" y="50657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Общается по-человечески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1344168" y="54223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Смайлики, имя оператора, живой диалог.</a:t>
            </a:r>
            <a:endParaRPr lang="en-US" sz="1200" dirty="0"/>
          </a:p>
        </p:txBody>
      </p:sp>
      <p:pic>
        <p:nvPicPr>
          <p:cNvPr id="42" name="Image 6" descr="/Users/thesimakov/Documents/GitHub/lemnity/presentation/assets/logo-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 ·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824228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4584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ЧТО МОЖЕТЕ ВЫ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Отвечайте откуда удобно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531860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41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2594519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8488" y="242316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 телефона и компьютера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18488" y="2862072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Из офиса или на прогулке — отвечайте так, как вам удобнее.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8728" y="2148840"/>
            <a:ext cx="531860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53048" y="2441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118" y="259451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02856" y="2423160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Фото, видео и файлы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02856" y="2862072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 10 вложений в одном сообщении — покажите товар «вживую».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995928"/>
            <a:ext cx="531860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88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51" y="444160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18488" y="427024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Видите, кто пришёл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18488" y="4709160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Откуда клиент, с какого устройства и какая страница его привела.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78728" y="3995928"/>
            <a:ext cx="531860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53048" y="4288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118" y="444160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02856" y="4270248"/>
            <a:ext cx="403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Завершаете диалог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02856" y="4709160"/>
            <a:ext cx="403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Помогли — закрыли беседу одной кнопкой. Всё под контролем.</a:t>
            </a:r>
            <a:endParaRPr lang="en-US" sz="1200" dirty="0"/>
          </a:p>
        </p:txBody>
      </p:sp>
      <p:pic>
        <p:nvPicPr>
          <p:cNvPr id="26" name="Image 4" descr="/Users/thesimakov/Documents/GitHub/lemnity/presentation/assets/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05 ·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2350008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СДЕЛАЙТЕ ЕГО СВОИМ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 стиль</a:t>
            </a:r>
            <a:endParaRPr lang="en-US" sz="3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вашего бренда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Чат подстроится под ваш сайт: выберите цвет, добавьте логотип и имя сотрудника — клиент сразу поймёт, что общается именно с вами.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Цвет окна и кнопки: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931920"/>
            <a:ext cx="420624" cy="420624"/>
          </a:xfrm>
          <a:prstGeom prst="ellipse">
            <a:avLst/>
          </a:prstGeom>
          <a:solidFill>
            <a:srgbClr val="5951E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3931920"/>
            <a:ext cx="420624" cy="420624"/>
          </a:xfrm>
          <a:prstGeom prst="ellipse">
            <a:avLst/>
          </a:prstGeom>
          <a:solidFill>
            <a:srgbClr val="E24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8216" y="3931920"/>
            <a:ext cx="420624" cy="420624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95144" y="3931920"/>
            <a:ext cx="420624" cy="420624"/>
          </a:xfrm>
          <a:prstGeom prst="ellipse">
            <a:avLst/>
          </a:prstGeom>
          <a:solidFill>
            <a:srgbClr val="74C5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3931920"/>
            <a:ext cx="420624" cy="420624"/>
          </a:xfrm>
          <a:prstGeom prst="ellipse">
            <a:avLst/>
          </a:prstGeom>
          <a:solidFill>
            <a:srgbClr val="6CD3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931920"/>
            <a:ext cx="420624" cy="420624"/>
          </a:xfrm>
          <a:prstGeom prst="ellipse">
            <a:avLst/>
          </a:prstGeom>
          <a:solidFill>
            <a:srgbClr val="5BA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5928" y="3931920"/>
            <a:ext cx="420624" cy="420624"/>
          </a:xfrm>
          <a:prstGeom prst="ellipse">
            <a:avLst/>
          </a:prstGeom>
          <a:solidFill>
            <a:srgbClr val="ED5B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4617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4F2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4731288"/>
            <a:ext cx="193487" cy="19348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61288" y="45720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Любой цвет </a:t>
            </a:r>
            <a:r>
              <a:rPr lang="en-US" sz="13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окна и кнопки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" y="51663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4F2FC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8" y="5279928"/>
            <a:ext cx="193487" cy="19348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61288" y="51206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Ваш логотип </a:t>
            </a:r>
            <a:r>
              <a:rPr lang="en-US" sz="13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 название компании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4360" y="57150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4F2F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5828568"/>
            <a:ext cx="193487" cy="1934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61288" y="56692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Имя и фото </a:t>
            </a:r>
            <a:r>
              <a:rPr lang="en-US" sz="13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сотрудника в шапке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132320" y="1188720"/>
            <a:ext cx="2286000" cy="3291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DEDF0"/>
            </a:solidFill>
            <a:prstDash val="solid"/>
          </a:ln>
          <a:effectLst>
            <a:outerShdw blurRad="279400" dist="101600" dir="5400000" algn="bl" rotWithShape="0">
              <a:srgbClr val="2A1F8F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168896" y="1874520"/>
            <a:ext cx="2212848" cy="2039112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26" name="Shape 21"/>
          <p:cNvSpPr/>
          <p:nvPr/>
        </p:nvSpPr>
        <p:spPr>
          <a:xfrm>
            <a:off x="7246620" y="13030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6CD3C0"/>
          </a:solidFill>
          <a:ln/>
        </p:spPr>
      </p:sp>
      <p:sp>
        <p:nvSpPr>
          <p:cNvPr id="27" name="Shape 22"/>
          <p:cNvSpPr/>
          <p:nvPr/>
        </p:nvSpPr>
        <p:spPr>
          <a:xfrm>
            <a:off x="7365492" y="140817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1499616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59268" y="13944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Кофейня «Зерно»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68412" y="1687068"/>
            <a:ext cx="82296" cy="82296"/>
          </a:xfrm>
          <a:prstGeom prst="ellipse">
            <a:avLst/>
          </a:prstGeom>
          <a:solidFill>
            <a:srgbClr val="3BD1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005572" y="16322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связи сейчас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292340" y="2061972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4F2FC"/>
          </a:solidFill>
          <a:ln/>
        </p:spPr>
      </p:sp>
      <p:sp>
        <p:nvSpPr>
          <p:cNvPr id="33" name="Text 27"/>
          <p:cNvSpPr/>
          <p:nvPr/>
        </p:nvSpPr>
        <p:spPr>
          <a:xfrm>
            <a:off x="7402068" y="206197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Доброе утро! ☕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886700" y="2574036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6CD3C0"/>
          </a:solidFill>
          <a:ln/>
        </p:spPr>
      </p:sp>
      <p:sp>
        <p:nvSpPr>
          <p:cNvPr id="35" name="Text 29"/>
          <p:cNvSpPr/>
          <p:nvPr/>
        </p:nvSpPr>
        <p:spPr>
          <a:xfrm>
            <a:off x="7996428" y="257403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Сварите латте?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292340" y="308610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4F2FC"/>
          </a:solidFill>
          <a:ln/>
        </p:spPr>
      </p:sp>
      <p:sp>
        <p:nvSpPr>
          <p:cNvPr id="37" name="Text 31"/>
          <p:cNvSpPr/>
          <p:nvPr/>
        </p:nvSpPr>
        <p:spPr>
          <a:xfrm>
            <a:off x="7402068" y="3086100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Уже готовим 🙂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246620" y="40233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1F1F4"/>
          </a:solidFill>
          <a:ln/>
        </p:spPr>
      </p:sp>
      <p:sp>
        <p:nvSpPr>
          <p:cNvPr id="39" name="Text 33"/>
          <p:cNvSpPr/>
          <p:nvPr/>
        </p:nvSpPr>
        <p:spPr>
          <a:xfrm>
            <a:off x="7374636" y="4023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3B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Напишите сообщение…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8919972" y="4014216"/>
            <a:ext cx="347472" cy="347472"/>
          </a:xfrm>
          <a:prstGeom prst="ellipse">
            <a:avLst/>
          </a:prstGeom>
          <a:solidFill>
            <a:srgbClr val="6CD3C0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412" y="4114800"/>
            <a:ext cx="164592" cy="164592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9601200" y="1737360"/>
            <a:ext cx="2286000" cy="3291840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12700">
            <a:solidFill>
              <a:srgbClr val="EDEDF0"/>
            </a:solidFill>
            <a:prstDash val="solid"/>
          </a:ln>
          <a:effectLst>
            <a:outerShdw blurRad="279400" dist="101600" dir="5400000" algn="bl" rotWithShape="0">
              <a:srgbClr val="2A1F8F">
                <a:alpha val="1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9637776" y="2423160"/>
            <a:ext cx="2212848" cy="2039112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44" name="Shape 37"/>
          <p:cNvSpPr/>
          <p:nvPr/>
        </p:nvSpPr>
        <p:spPr>
          <a:xfrm>
            <a:off x="9715500" y="18516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ED5BB0"/>
          </a:solidFill>
          <a:ln/>
        </p:spPr>
      </p:sp>
      <p:sp>
        <p:nvSpPr>
          <p:cNvPr id="45" name="Shape 38"/>
          <p:cNvSpPr/>
          <p:nvPr/>
        </p:nvSpPr>
        <p:spPr>
          <a:xfrm>
            <a:off x="9834372" y="195681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956" y="2048256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0328148" y="19431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Студия «Лотос»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10337292" y="2235708"/>
            <a:ext cx="82296" cy="82296"/>
          </a:xfrm>
          <a:prstGeom prst="ellipse">
            <a:avLst/>
          </a:prstGeom>
          <a:solidFill>
            <a:srgbClr val="3BD1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474452" y="21808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связи сейчас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9761220" y="2610612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4F2FC"/>
          </a:solidFill>
          <a:ln/>
        </p:spPr>
      </p:sp>
      <p:sp>
        <p:nvSpPr>
          <p:cNvPr id="51" name="Text 43"/>
          <p:cNvSpPr/>
          <p:nvPr/>
        </p:nvSpPr>
        <p:spPr>
          <a:xfrm>
            <a:off x="9870948" y="261061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Здравствуйте! 🌸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10355580" y="3122676"/>
            <a:ext cx="1371600" cy="402336"/>
          </a:xfrm>
          <a:prstGeom prst="roundRect">
            <a:avLst>
              <a:gd name="adj" fmla="val 20455"/>
            </a:avLst>
          </a:prstGeom>
          <a:solidFill>
            <a:srgbClr val="ED5BB0"/>
          </a:solidFill>
          <a:ln/>
        </p:spPr>
      </p:sp>
      <p:sp>
        <p:nvSpPr>
          <p:cNvPr id="53" name="Text 45"/>
          <p:cNvSpPr/>
          <p:nvPr/>
        </p:nvSpPr>
        <p:spPr>
          <a:xfrm>
            <a:off x="10465308" y="31226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Запись на маникюр?</a:t>
            </a:r>
            <a:endParaRPr lang="en-US" sz="950" dirty="0"/>
          </a:p>
        </p:txBody>
      </p:sp>
      <p:sp>
        <p:nvSpPr>
          <p:cNvPr id="54" name="Shape 46"/>
          <p:cNvSpPr/>
          <p:nvPr/>
        </p:nvSpPr>
        <p:spPr>
          <a:xfrm>
            <a:off x="9761220" y="3634740"/>
            <a:ext cx="1417320" cy="402336"/>
          </a:xfrm>
          <a:prstGeom prst="roundRect">
            <a:avLst>
              <a:gd name="adj" fmla="val 20455"/>
            </a:avLst>
          </a:prstGeom>
          <a:solidFill>
            <a:srgbClr val="F4F2FC"/>
          </a:solidFill>
          <a:ln/>
        </p:spPr>
      </p:sp>
      <p:sp>
        <p:nvSpPr>
          <p:cNvPr id="55" name="Text 47"/>
          <p:cNvSpPr/>
          <p:nvPr/>
        </p:nvSpPr>
        <p:spPr>
          <a:xfrm>
            <a:off x="9870948" y="3634740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Да, на завтра!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9715500" y="45720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1F1F4"/>
          </a:solidFill>
          <a:ln/>
        </p:spPr>
      </p:sp>
      <p:sp>
        <p:nvSpPr>
          <p:cNvPr id="57" name="Text 49"/>
          <p:cNvSpPr/>
          <p:nvPr/>
        </p:nvSpPr>
        <p:spPr>
          <a:xfrm>
            <a:off x="9843516" y="4572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3B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Напишите сообщение…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11388852" y="4562856"/>
            <a:ext cx="347472" cy="347472"/>
          </a:xfrm>
          <a:prstGeom prst="ellipse">
            <a:avLst/>
          </a:prstGeom>
          <a:solidFill>
            <a:srgbClr val="ED5BB0"/>
          </a:solidFill>
          <a:ln/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0292" y="4663440"/>
            <a:ext cx="164592" cy="164592"/>
          </a:xfrm>
          <a:prstGeom prst="rect">
            <a:avLst/>
          </a:prstGeom>
        </p:spPr>
      </p:pic>
      <p:pic>
        <p:nvPicPr>
          <p:cNvPr id="60" name="Image 7" descr="/Users/thesimakov/Documents/GitHub/lemnity/presentation/assets/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06 ·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824228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4584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УМНЫЕ ФУНКЦИИ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Чат работает за вас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503856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587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63" y="2740823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3246120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Открывается сам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3703320"/>
            <a:ext cx="1991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Через несколько секунд или когда гость листает страницу — вежливо предложит помощь.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7400" y="2331720"/>
            <a:ext cx="2503856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83432" y="2587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502" y="274082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3432" y="3246120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Собирает контакты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83432" y="3703320"/>
            <a:ext cx="1991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Спросит имя, телефон и почту, чтобы вы могли перезвонить.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60440" y="2331720"/>
            <a:ext cx="2503856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6472" y="2587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542" y="274082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6472" y="3246120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 теряет сообщения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16472" y="3703320"/>
            <a:ext cx="1991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Вас нет на месте? Клиент оставит сообщение — ответите утром.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93479" y="2331720"/>
            <a:ext cx="2503856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49511" y="2587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4F2F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582" y="2740823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9511" y="3246120"/>
            <a:ext cx="199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ИИ-помощник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349511" y="3703320"/>
            <a:ext cx="1991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Скоро: умный помощник ответит на простые вопросы сам, пока вы заняты.</a:t>
            </a:r>
            <a:endParaRPr lang="en-US" sz="1150" dirty="0"/>
          </a:p>
        </p:txBody>
      </p:sp>
      <p:pic>
        <p:nvPicPr>
          <p:cNvPr id="26" name="Image 4" descr="/Users/thesimakov/Documents/GitHub/lemnity/presentation/assets/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07 ·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2665476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22997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УСТАНОВКА ЗА 1 МИНУТУ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 нужно быть</a:t>
            </a:r>
            <a:endParaRPr lang="en-US"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программистом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4414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5951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Копируете строчку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Мы даём готовый «код для вставки» — одну короткую строку. Нажимаете «Копировать».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3938" y="26974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9970" y="24414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5951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9970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58258" y="31546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Вставляете на сайт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8258" y="356616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Добавляете её на свой сайт — или передаёте тому, кто им занимается.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3517" y="2697480"/>
            <a:ext cx="3423818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9549" y="24414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5951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9549" y="2441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447837" y="31546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Готово!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47837" y="356616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Чат сразу появляется на сайте и начинает работать. Больше ничего не нужно.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89204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171232"/>
          </a:solidFill>
          <a:ln/>
          <a:effectLst>
            <a:outerShdw blurRad="177800" dist="63500" dir="5400000" algn="bl" rotWithShape="0">
              <a:srgbClr val="2A1F8F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E3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src="lemnity.ru/embed.js?id=</a:t>
            </a:r>
            <a:r>
              <a:rPr lang="en-US" sz="1300" dirty="0">
                <a:solidFill>
                  <a:srgbClr val="F5C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ВАШ-ЧАТ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4892040"/>
            <a:ext cx="3276295" cy="640080"/>
          </a:xfrm>
          <a:prstGeom prst="roundRect">
            <a:avLst>
              <a:gd name="adj" fmla="val 17143"/>
            </a:avLst>
          </a:prstGeom>
          <a:solidFill>
            <a:srgbClr val="DF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4892040"/>
            <a:ext cx="3093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7A4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🤝  </a:t>
            </a:r>
            <a:r>
              <a:rPr lang="en-US" sz="1200" b="1" dirty="0">
                <a:solidFill>
                  <a:srgbClr val="1F7A4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 уверены? Установим за вас — бесплатно.</a:t>
            </a:r>
            <a:endParaRPr lang="en-US" sz="1200" dirty="0"/>
          </a:p>
        </p:txBody>
      </p:sp>
      <p:pic>
        <p:nvPicPr>
          <p:cNvPr id="25" name="Image 0" descr="/Users/thesimakov/Documents/GitHub/lemnity/presentation/assets/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08 ·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2244852" cy="347472"/>
          </a:xfrm>
          <a:prstGeom prst="roundRect">
            <a:avLst>
              <a:gd name="adj" fmla="val 50000"/>
            </a:avLst>
          </a:prstGeom>
          <a:solidFill>
            <a:srgbClr val="F4F2F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694944"/>
            <a:ext cx="91440" cy="91440"/>
          </a:xfrm>
          <a:prstGeom prst="ellipse">
            <a:avLst/>
          </a:prstGeom>
          <a:solidFill>
            <a:srgbClr val="5951E5"/>
          </a:solidFill>
          <a:ln/>
        </p:spPr>
      </p:sp>
      <p:sp>
        <p:nvSpPr>
          <p:cNvPr id="4" name="Text 2"/>
          <p:cNvSpPr/>
          <p:nvPr/>
        </p:nvSpPr>
        <p:spPr>
          <a:xfrm>
            <a:off x="905256" y="566928"/>
            <a:ext cx="18790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2A1F8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ФОРМИРОВАНИЕ ЦЕНЫ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024128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Один тариф — всё включено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865376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Никаких скрытых модулей и доплат: AI-агент, мессенджеры и white-label уже в цене. Платите только за число операторов.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4892040" cy="3657600"/>
          </a:xfrm>
          <a:prstGeom prst="roundRect">
            <a:avLst>
              <a:gd name="adj" fmla="val 4000"/>
            </a:avLst>
          </a:prstGeom>
          <a:solidFill>
            <a:srgbClr val="5951E5"/>
          </a:solidFill>
          <a:ln/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2887995"/>
            <a:ext cx="443484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82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ТАРИФ «ЧАТ» · ВСЁ ВКЛЮЧЕНО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3173288"/>
            <a:ext cx="443484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1 290 </a:t>
            </a:r>
            <a:r>
              <a:rPr lang="en-US" sz="1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₽/мес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86968" y="3812453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>
                    <a:alpha val="86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для 1 оператора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4235363"/>
            <a:ext cx="150876" cy="1508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4712" y="4160840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Чат в реальном времени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4477679"/>
            <a:ext cx="150876" cy="1508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24712" y="4403156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Бот-сценарии и отделы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4719995"/>
            <a:ext cx="150876" cy="1508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24712" y="4645472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Telegram, MAX, ВКонтакте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4962311"/>
            <a:ext cx="150876" cy="1508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24712" y="4887788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AI-агент (~1 000 ответов/мес)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5204627"/>
            <a:ext cx="150876" cy="1508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24712" y="5130104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White-label — убрать логотип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" y="5446943"/>
            <a:ext cx="150876" cy="1508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24712" y="5372420"/>
            <a:ext cx="41605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Размещение на 1 сайте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5943600" y="2456952"/>
            <a:ext cx="565373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CEAF6"/>
            </a:solidFill>
            <a:prstDash val="solid"/>
          </a:ln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236208" y="28227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4F2FC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341" y="2970845"/>
            <a:ext cx="252374" cy="25237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67728" y="2749560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Дополнительный оператор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6967728" y="3133608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 каждого нового сотрудника в команде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9997135" y="27678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+490 </a:t>
            </a:r>
            <a:r>
              <a:rPr lang="en-US" sz="14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₽</a:t>
            </a:r>
            <a:endParaRPr lang="en-US" sz="2600" dirty="0"/>
          </a:p>
        </p:txBody>
      </p:sp>
      <p:sp>
        <p:nvSpPr>
          <p:cNvPr id="29" name="Text 20"/>
          <p:cNvSpPr/>
          <p:nvPr/>
        </p:nvSpPr>
        <p:spPr>
          <a:xfrm>
            <a:off x="9997135" y="3279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B475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 месяц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943600" y="3945595"/>
            <a:ext cx="5653735" cy="2180885"/>
          </a:xfrm>
          <a:prstGeom prst="roundRect">
            <a:avLst>
              <a:gd name="adj" fmla="val 7778"/>
            </a:avLst>
          </a:prstGeom>
          <a:solidFill>
            <a:srgbClr val="171232"/>
          </a:solidFill>
          <a:ln/>
          <a:effectLst>
            <a:outerShdw blurRad="152400" dist="50800" dir="5400000" algn="bl" rotWithShape="0">
              <a:srgbClr val="2A1F8F">
                <a:alpha val="8000"/>
              </a:srgbClr>
            </a:outerShdw>
          </a:effectLst>
        </p:spPr>
      </p:sp>
      <p:sp>
        <p:nvSpPr>
          <p:cNvPr id="31" name="Text 22"/>
          <p:cNvSpPr/>
          <p:nvPr/>
        </p:nvSpPr>
        <p:spPr>
          <a:xfrm>
            <a:off x="6236208" y="4374012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E3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ПРИМЕР РАСЧЁТА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236208" y="4657476"/>
            <a:ext cx="5196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8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Команда из 3 операторов: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236208" y="4977516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>
                    <a:alpha val="90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1 290 ₽ </a:t>
            </a: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(база) </a:t>
            </a:r>
            <a:r>
              <a:rPr lang="en-US" sz="1300" b="1" dirty="0">
                <a:solidFill>
                  <a:srgbClr val="FFFFFF">
                    <a:alpha val="90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+ 490 ₽ × 2 </a:t>
            </a: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(доп.)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236208" y="5270124"/>
            <a:ext cx="5196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= 2 270 </a:t>
            </a: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₽/мес</a:t>
            </a:r>
            <a:endParaRPr lang="en-US" sz="2800" dirty="0"/>
          </a:p>
        </p:txBody>
      </p:sp>
      <p:pic>
        <p:nvPicPr>
          <p:cNvPr id="35" name="Image 7" descr="/Users/thesimakov/Documents/GitHub/lemnity/presentation/assets/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6382512"/>
            <a:ext cx="90722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500055" y="6345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879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09 ·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011680"/>
            <a:ext cx="6400800" cy="6400800"/>
          </a:xfrm>
          <a:prstGeom prst="ellipse">
            <a:avLst/>
          </a:prstGeom>
          <a:solidFill>
            <a:srgbClr val="5951E5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9244FB">
              <a:alpha val="18000"/>
            </a:srgbClr>
          </a:solidFill>
          <a:ln/>
        </p:spPr>
      </p:sp>
      <p:pic>
        <p:nvPicPr>
          <p:cNvPr id="4" name="Image 0" descr="/Users/thesimakov/Documents/GitHub/lemnity/presentation/assets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857" y="1097280"/>
            <a:ext cx="1731981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Клиенты ближе —</a:t>
            </a:r>
            <a:endParaRPr lang="en-US" sz="5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продажи выше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2286000" y="3977640"/>
            <a:ext cx="7619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>
                    <a:alpha val="82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Подключите чат «Lemnity» и отвечайте посетителям так же легко, как пишете близким.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8528" y="4983480"/>
            <a:ext cx="283464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78528" y="4983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951E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Подключить чат   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296" y="5230368"/>
            <a:ext cx="18288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>
                    <a:alpha val="6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lemnity.ru   ·   Чат для вашего сайта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792</Words>
  <Application>Microsoft Macintosh PowerPoint</Application>
  <PresentationFormat>Широкоэкранный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Rubik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Виджет «Чат» — Lemnity</dc:title>
  <dc:subject>PptxGenJS Presentation</dc:subject>
  <dc:creator>Lemnity</dc:creator>
  <cp:lastModifiedBy>Microsoft Office User</cp:lastModifiedBy>
  <cp:revision>4</cp:revision>
  <dcterms:created xsi:type="dcterms:W3CDTF">2026-06-15T11:12:59Z</dcterms:created>
  <dcterms:modified xsi:type="dcterms:W3CDTF">2026-06-15T12:22:09Z</dcterms:modified>
</cp:coreProperties>
</file>